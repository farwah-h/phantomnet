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bc3ad6b0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dbc3ad6b0b_0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bc3ad6b0b_0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bc3ad6b0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3dbc3ad6b0b_0_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dbc3ad6b0b_0_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F2DCC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40080" y="1463040"/>
            <a:ext cx="1280160" cy="64008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640080" y="169164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6000"/>
              <a:buFont typeface="Calibri"/>
              <a:buNone/>
            </a:pPr>
            <a:r>
              <a:rPr lang="en-US" sz="60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PhantomNet++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40080" y="274320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 Distributed AI Security Framework for Simulating, Detecting &amp; Autonomously Defending Vision-Based DNNs Against Adversarial Attacks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0080" y="4160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BF7F0"/>
          </a:solidFill>
          <a:ln w="1587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4160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DAG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554480" y="4160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BF7F0"/>
          </a:solidFill>
          <a:ln w="15875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54480" y="4160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IVM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468880" y="4160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BF7F0"/>
          </a:solidFill>
          <a:ln w="15875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468880" y="4160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XAI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383280" y="4160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BF7F0"/>
          </a:solidFill>
          <a:ln w="15875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383280" y="4160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297680" y="4160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BF7F0"/>
          </a:solidFill>
          <a:ln w="15875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297680" y="4160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SRC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212080" y="4160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BF7F0"/>
          </a:solidFill>
          <a:ln w="15875" cap="flat" cmpd="sng">
            <a:solidFill>
              <a:srgbClr val="B36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212080" y="41605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687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36876"/>
                </a:solidFill>
                <a:latin typeface="Calibri"/>
                <a:ea typeface="Calibri"/>
                <a:cs typeface="Calibri"/>
                <a:sym typeface="Calibri"/>
              </a:rPr>
              <a:t>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Team: </a:t>
            </a:r>
            <a:r>
              <a:rPr lang="en-US" sz="14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Farwah Hamid (FA22-BCT-007) · Munazza Ahmed (FA22-BCT-027)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0080" y="5349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Supervisor: </a:t>
            </a:r>
            <a:r>
              <a:rPr lang="en-US" sz="14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Mrs. Najla Raza</a:t>
            </a:r>
            <a:r>
              <a:rPr lang="en-US"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     Industrial Partner: </a:t>
            </a:r>
            <a:r>
              <a:rPr lang="en-US" sz="14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Nerd Flow (Pvt) Ltd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Bachelors in Cybersecurity — COMSATS University Islamabad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417320" y="14630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Problem Statement &amp; Motivation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17320" y="24231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System Overview &amp; Vision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17320" y="338328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System Architecture (8 Modules)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417320" y="434340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Dynamic Attack Generator (DAG)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530352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417320" y="530352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Intelligent Vision Module (IVM)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217920" y="146304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1792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086600" y="14630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Explainable AI Engine (XAI)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21792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086600" y="24231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Autonomous Response Engine (ARE)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17920" y="3383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086600" y="338328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Supporting Infrastructure (SRC·LSE·FMO)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217920" y="434340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217920" y="4343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086600" y="434340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Frontend Dashboard (DUI)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217920" y="5303520"/>
            <a:ext cx="640080" cy="640080"/>
          </a:xfrm>
          <a:prstGeom prst="ellipse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217920" y="5303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086600" y="530352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Testing, Results &amp; Next Steps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Why does PhantomNet++ need to exist?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1371600"/>
            <a:ext cx="164592" cy="146304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13232" y="1371600"/>
            <a:ext cx="10899648" cy="1463040"/>
          </a:xfrm>
          <a:prstGeom prst="rect">
            <a:avLst/>
          </a:prstGeom>
          <a:solidFill>
            <a:srgbClr val="F2D9D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14400" y="1508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AI Vision Systems Are Vulnerable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14400" y="196596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Vision-based DNNs powering surveillance, autonomous vehicles, and facial recognition can be fooled by adversarial attacks — deliberately crafted patches, wearables, or pixel alterations that cause catastrophic misclassifications.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3017520"/>
            <a:ext cx="164592" cy="146304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13232" y="3017520"/>
            <a:ext cx="10899648" cy="1463040"/>
          </a:xfrm>
          <a:prstGeom prst="rect">
            <a:avLst/>
          </a:prstGeom>
          <a:solidFill>
            <a:srgbClr val="F0DFC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14400" y="3154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Existing Defenses Are Insufficient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14400" y="361188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Current tools focus on isolated lab testing. They lack real-time detection, physical robustness, autonomous mitigation, and explainability — leaving AI systems dangerously exposed in production deployments.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8640" y="4663440"/>
            <a:ext cx="164592" cy="146304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13232" y="4663440"/>
            <a:ext cx="10899648" cy="1463040"/>
          </a:xfrm>
          <a:prstGeom prst="rect">
            <a:avLst/>
          </a:prstGeom>
          <a:solidFill>
            <a:srgbClr val="E5D9E5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14400" y="4800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Trust &amp; Safety Are At Stake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14400" y="525780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Exploited AI systems in surveillance, authentication, or autonomous navigation can lead to security breaches, accidents, or system failures with severe consequences.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320100" cy="685800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CA8A0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6400">
              <a:solidFill>
                <a:srgbClr val="CA8A0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14400" y="3108960"/>
            <a:ext cx="10058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Comments Addressed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96083" y="4142203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Updation made based on Evaluators feedbacks.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6576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530323" y="32004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Evaluators Feedback - Addressed Updates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960120"/>
            <a:ext cx="914400" cy="4560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6576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8"/>
          <p:cNvGrpSpPr/>
          <p:nvPr/>
        </p:nvGrpSpPr>
        <p:grpSpPr>
          <a:xfrm>
            <a:off x="571500" y="1333500"/>
            <a:ext cx="11049000" cy="4619700"/>
            <a:chOff x="571500" y="1333500"/>
            <a:chExt cx="11049000" cy="4619700"/>
          </a:xfrm>
        </p:grpSpPr>
        <p:sp>
          <p:nvSpPr>
            <p:cNvPr id="118" name="Google Shape;118;p8"/>
            <p:cNvSpPr/>
            <p:nvPr/>
          </p:nvSpPr>
          <p:spPr>
            <a:xfrm>
              <a:off x="571500" y="1333500"/>
              <a:ext cx="11049000" cy="809700"/>
            </a:xfrm>
            <a:prstGeom prst="roundRect">
              <a:avLst>
                <a:gd name="adj" fmla="val 4705"/>
              </a:avLst>
            </a:prstGeom>
            <a:solidFill>
              <a:srgbClr val="F2D9D0"/>
            </a:solidFill>
            <a:ln w="9525" cap="flat" cmpd="sng">
              <a:solidFill>
                <a:srgbClr val="D6C7A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571500" y="1333500"/>
              <a:ext cx="114300" cy="809700"/>
            </a:xfrm>
            <a:prstGeom prst="roundRect">
              <a:avLst>
                <a:gd name="adj" fmla="val 33333"/>
              </a:avLst>
            </a:prstGeom>
            <a:solidFill>
              <a:srgbClr val="B548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>
              <a:off x="809625" y="1333500"/>
              <a:ext cx="1057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D2E1F"/>
                  </a:solidFill>
                  <a:latin typeface="Calibri"/>
                  <a:ea typeface="Calibri"/>
                  <a:cs typeface="Calibri"/>
                  <a:sym typeface="Calibri"/>
                </a:rPr>
                <a:t>Section 4.2 &amp; Calibration Results</a:t>
              </a:r>
              <a:endParaRPr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C4A3A"/>
                  </a:solidFill>
                  <a:latin typeface="Calibri"/>
                  <a:ea typeface="Calibri"/>
                  <a:cs typeface="Calibri"/>
                  <a:sym typeface="Calibri"/>
                </a:rPr>
                <a:t>Added complete pipeline results — CV AUROC 0.9532, F1 0.8143, adversarial recall 85%, per-model AUROC table, and confusion matrix.</a:t>
              </a:r>
              <a:endParaRPr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571500" y="2286000"/>
              <a:ext cx="11049000" cy="809700"/>
            </a:xfrm>
            <a:prstGeom prst="roundRect">
              <a:avLst>
                <a:gd name="adj" fmla="val 4705"/>
              </a:avLst>
            </a:prstGeom>
            <a:solidFill>
              <a:srgbClr val="F0DFC2"/>
            </a:solidFill>
            <a:ln w="9525" cap="flat" cmpd="sng">
              <a:solidFill>
                <a:srgbClr val="D6C7A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571500" y="2286000"/>
              <a:ext cx="114300" cy="809700"/>
            </a:xfrm>
            <a:prstGeom prst="roundRect">
              <a:avLst>
                <a:gd name="adj" fmla="val 33333"/>
              </a:avLst>
            </a:prstGeom>
            <a:solidFill>
              <a:srgbClr val="C686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809625" y="2286000"/>
              <a:ext cx="1057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D2E1F"/>
                  </a:solidFill>
                  <a:latin typeface="Calibri"/>
                  <a:ea typeface="Calibri"/>
                  <a:cs typeface="Calibri"/>
                  <a:sym typeface="Calibri"/>
                </a:rPr>
                <a:t>MITRE ATT&amp;CK Integration</a:t>
              </a:r>
              <a:endParaRPr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C4A3A"/>
                  </a:solidFill>
                  <a:latin typeface="Calibri"/>
                  <a:ea typeface="Calibri"/>
                  <a:cs typeface="Calibri"/>
                  <a:sym typeface="Calibri"/>
                </a:rPr>
                <a:t>Integrated live feed into Response Engine — analyst-only, individual SIEM logging for policy creation, dynamic knowledge base.</a:t>
              </a:r>
              <a:endParaRPr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571500" y="3238500"/>
              <a:ext cx="11049000" cy="809700"/>
            </a:xfrm>
            <a:prstGeom prst="roundRect">
              <a:avLst>
                <a:gd name="adj" fmla="val 4705"/>
              </a:avLst>
            </a:prstGeom>
            <a:solidFill>
              <a:srgbClr val="E5D9E5"/>
            </a:solidFill>
            <a:ln w="9525" cap="flat" cmpd="sng">
              <a:solidFill>
                <a:srgbClr val="D6C7A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571500" y="3238500"/>
              <a:ext cx="114300" cy="809700"/>
            </a:xfrm>
            <a:prstGeom prst="roundRect">
              <a:avLst>
                <a:gd name="adj" fmla="val 33333"/>
              </a:avLst>
            </a:prstGeom>
            <a:solidFill>
              <a:srgbClr val="8B6F8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809625" y="3238500"/>
              <a:ext cx="1057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D2E1F"/>
                  </a:solidFill>
                  <a:latin typeface="Calibri"/>
                  <a:ea typeface="Calibri"/>
                  <a:cs typeface="Calibri"/>
                  <a:sym typeface="Calibri"/>
                </a:rPr>
                <a:t>Model Defense Evidence</a:t>
              </a:r>
              <a:endParaRPr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C4A3A"/>
                  </a:solidFill>
                  <a:latin typeface="Calibri"/>
                  <a:ea typeface="Calibri"/>
                  <a:cs typeface="Calibri"/>
                  <a:sym typeface="Calibri"/>
                </a:rPr>
                <a:t>Defended ResNet-50 and YOLOv5; ensemble AUROC 0.9532 justifies architecture choices. Future work upgrades scheduled.</a:t>
              </a:r>
              <a:endParaRPr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571500" y="4191000"/>
              <a:ext cx="11049000" cy="809700"/>
            </a:xfrm>
            <a:prstGeom prst="roundRect">
              <a:avLst>
                <a:gd name="adj" fmla="val 4705"/>
              </a:avLst>
            </a:prstGeom>
            <a:solidFill>
              <a:srgbClr val="EEE5D2"/>
            </a:solidFill>
            <a:ln w="9525" cap="flat" cmpd="sng">
              <a:solidFill>
                <a:srgbClr val="D6C7A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571500" y="4191000"/>
              <a:ext cx="114300" cy="809700"/>
            </a:xfrm>
            <a:prstGeom prst="roundRect">
              <a:avLst>
                <a:gd name="adj" fmla="val 33333"/>
              </a:avLst>
            </a:prstGeom>
            <a:solidFill>
              <a:srgbClr val="A0623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809625" y="4191000"/>
              <a:ext cx="1057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D2E1F"/>
                  </a:solidFill>
                  <a:latin typeface="Calibri"/>
                  <a:ea typeface="Calibri"/>
                  <a:cs typeface="Calibri"/>
                  <a:sym typeface="Calibri"/>
                </a:rPr>
                <a:t>Module Audits &amp; Future Roadmapping</a:t>
              </a:r>
              <a:endParaRPr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C4A3A"/>
                  </a:solidFill>
                  <a:latin typeface="Calibri"/>
                  <a:ea typeface="Calibri"/>
                  <a:cs typeface="Calibri"/>
                  <a:sym typeface="Calibri"/>
                </a:rPr>
                <a:t>Audited all 9 modules. Features like NeRF, Istio, and Byzantine  explicitly marked as Future Work.</a:t>
              </a:r>
              <a:endParaRPr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571500" y="5143500"/>
              <a:ext cx="11049000" cy="809700"/>
            </a:xfrm>
            <a:prstGeom prst="roundRect">
              <a:avLst>
                <a:gd name="adj" fmla="val 4705"/>
              </a:avLst>
            </a:prstGeom>
            <a:solidFill>
              <a:srgbClr val="FBF7F0"/>
            </a:solidFill>
            <a:ln w="9525" cap="flat" cmpd="sng">
              <a:solidFill>
                <a:srgbClr val="D6C7A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571500" y="5143500"/>
              <a:ext cx="114300" cy="809700"/>
            </a:xfrm>
            <a:prstGeom prst="roundRect">
              <a:avLst>
                <a:gd name="adj" fmla="val 33333"/>
              </a:avLst>
            </a:prstGeom>
            <a:solidFill>
              <a:srgbClr val="7B8B5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 txBox="1"/>
            <p:nvPr/>
          </p:nvSpPr>
          <p:spPr>
            <a:xfrm>
              <a:off x="809625" y="5143500"/>
              <a:ext cx="1057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D2E1F"/>
                  </a:solidFill>
                  <a:latin typeface="Calibri"/>
                  <a:ea typeface="Calibri"/>
                  <a:cs typeface="Calibri"/>
                  <a:sym typeface="Calibri"/>
                </a:rPr>
                <a:t>Adversarial Calibration Insights</a:t>
              </a:r>
              <a:endParaRPr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C4A3A"/>
                  </a:solidFill>
                  <a:latin typeface="Calibri"/>
                  <a:ea typeface="Calibri"/>
                  <a:cs typeface="Calibri"/>
                  <a:sym typeface="Calibri"/>
                </a:rPr>
                <a:t>YOLO false positives on adversarial images corrected by meta-learner via negative coefficients without intervention.</a:t>
              </a:r>
              <a:endParaRPr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What PhantomNet++ is and what it does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PhantomNet++ Overview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48640" y="1371600"/>
            <a:ext cx="7132320" cy="1554480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777240" y="1554480"/>
            <a:ext cx="66751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PhantomNet++ </a:t>
            </a:r>
            <a:r>
              <a:rPr lang="en-US" sz="14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is an enterprise-level distributed AI security framework that </a:t>
            </a:r>
            <a:r>
              <a:rPr lang="en-US" sz="14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simulates, detects, and autonomously defends </a:t>
            </a:r>
            <a:r>
              <a:rPr lang="en-US" sz="14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vision-based Deep Neural Networks against physical adversarial attacks in real-time operational environments.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7863840" y="1371600"/>
            <a:ext cx="1325880" cy="1554480"/>
          </a:xfrm>
          <a:prstGeom prst="rect">
            <a:avLst/>
          </a:prstGeom>
          <a:solidFill>
            <a:srgbClr val="F2DCC8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786384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&lt;100ms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7863840" y="21945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ARE Response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9281160" y="1371600"/>
            <a:ext cx="1325880" cy="1554480"/>
          </a:xfrm>
          <a:prstGeom prst="rect">
            <a:avLst/>
          </a:prstGeom>
          <a:solidFill>
            <a:srgbClr val="F2D9D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28116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9281160" y="21945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Attack Success Rate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0698480" y="1371600"/>
            <a:ext cx="1325880" cy="1554480"/>
          </a:xfrm>
          <a:prstGeom prst="rect">
            <a:avLst/>
          </a:prstGeom>
          <a:solidFill>
            <a:srgbClr val="E5D9E5"/>
          </a:solidFill>
          <a:ln w="12700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0698480" y="15087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3-Model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0698480" y="2194560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IVM Ensemble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48640" y="35204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BF7F0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48640" y="35204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Security Analysts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383280" y="35204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BF7F0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383280" y="35204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System Administrators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217920" y="35204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BF7F0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217920" y="35204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AI Researchers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9052560" y="35204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BF7F0"/>
          </a:solidFill>
          <a:ln w="12700" cap="flat" cmpd="sng">
            <a:solidFill>
              <a:srgbClr val="A062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9052560" y="35204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Autonomous System Operators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Key Differentiators vs. Existing Tools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48640" y="4754880"/>
            <a:ext cx="2743200" cy="155448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48640" y="4754880"/>
            <a:ext cx="2743200" cy="41148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48640" y="47548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85800" y="52578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Sub-100ms autonomous threat response — no human in the loop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383280" y="4754880"/>
            <a:ext cx="2743200" cy="155448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383280" y="4754880"/>
            <a:ext cx="2743200" cy="41148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3383280" y="47548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3520440" y="52578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Policy-driven response without human intervention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217920" y="4754880"/>
            <a:ext cx="2743200" cy="155448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217920" y="4754880"/>
            <a:ext cx="2743200" cy="411480"/>
          </a:xfrm>
          <a:prstGeom prst="rect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217920" y="47548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355080" y="52578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LIME, SHAP &amp; Grad-CAM forensics built in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9052560" y="4754880"/>
            <a:ext cx="2743200" cy="155448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9052560" y="4754880"/>
            <a:ext cx="2743200" cy="41148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9052560" y="47548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9189720" y="52578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Multi-agent Byzantine consensus architecture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896083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8-module distributed framework pipeline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System Architecture — Data Flow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CORE PIPELINE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548640" y="1508760"/>
            <a:ext cx="2103120" cy="1463040"/>
          </a:xfrm>
          <a:prstGeom prst="rect">
            <a:avLst/>
          </a:prstGeom>
          <a:solidFill>
            <a:srgbClr val="F2D9D0"/>
          </a:solidFill>
          <a:ln w="1587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1645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DAG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58368" y="2331720"/>
            <a:ext cx="188366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Dynamic Attack Generator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651760" y="1508760"/>
            <a:ext cx="182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2834640" y="1508760"/>
            <a:ext cx="2103120" cy="1463040"/>
          </a:xfrm>
          <a:prstGeom prst="rect">
            <a:avLst/>
          </a:prstGeom>
          <a:solidFill>
            <a:srgbClr val="E5D9E5"/>
          </a:solidFill>
          <a:ln w="15875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2834640" y="1645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IVM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2944368" y="2331720"/>
            <a:ext cx="188366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Intelligent Vision Module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937760" y="1508760"/>
            <a:ext cx="182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120640" y="1508760"/>
            <a:ext cx="2103120" cy="1463040"/>
          </a:xfrm>
          <a:prstGeom prst="rect">
            <a:avLst/>
          </a:prstGeom>
          <a:solidFill>
            <a:srgbClr val="E0E2CE"/>
          </a:solidFill>
          <a:ln w="15875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120640" y="1645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XAI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230368" y="2331720"/>
            <a:ext cx="188366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Explainable AI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7223760" y="1508760"/>
            <a:ext cx="182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7406640" y="1508760"/>
            <a:ext cx="2103120" cy="1463040"/>
          </a:xfrm>
          <a:prstGeom prst="rect">
            <a:avLst/>
          </a:prstGeom>
          <a:solidFill>
            <a:srgbClr val="F0DFC2"/>
          </a:solidFill>
          <a:ln w="15875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406640" y="1645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516368" y="2331720"/>
            <a:ext cx="188366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Autonomous Response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509760" y="1508760"/>
            <a:ext cx="1828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692640" y="1508760"/>
            <a:ext cx="2103120" cy="1463040"/>
          </a:xfrm>
          <a:prstGeom prst="rect">
            <a:avLst/>
          </a:prstGeom>
          <a:solidFill>
            <a:srgbClr val="D8E1EB"/>
          </a:solidFill>
          <a:ln w="15875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692640" y="1645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SRC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9802368" y="2331720"/>
            <a:ext cx="188366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Secure Response &amp; Coordination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SUPPORTING MODULES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48640" y="3566160"/>
            <a:ext cx="3657600" cy="1188720"/>
          </a:xfrm>
          <a:prstGeom prst="rect">
            <a:avLst/>
          </a:prstGeom>
          <a:solidFill>
            <a:srgbClr val="ECD3D8"/>
          </a:solidFill>
          <a:ln w="15875" cap="flat" cmpd="sng">
            <a:solidFill>
              <a:srgbClr val="B36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48640" y="36576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6876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B36876"/>
                </a:solidFill>
                <a:latin typeface="Calibri"/>
                <a:ea typeface="Calibri"/>
                <a:cs typeface="Calibri"/>
                <a:sym typeface="Calibri"/>
              </a:rPr>
              <a:t>LSE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85800" y="42062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Logging &amp; SIEM Engine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434840" y="3566160"/>
            <a:ext cx="3657600" cy="1188720"/>
          </a:xfrm>
          <a:prstGeom prst="rect">
            <a:avLst/>
          </a:prstGeom>
          <a:solidFill>
            <a:srgbClr val="D5E0E0"/>
          </a:solidFill>
          <a:ln w="15875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434840" y="36576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DUI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572000" y="42062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Dashboard UI (React)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8321040" y="3566160"/>
            <a:ext cx="3657600" cy="1188720"/>
          </a:xfrm>
          <a:prstGeom prst="rect">
            <a:avLst/>
          </a:prstGeom>
          <a:solidFill>
            <a:srgbClr val="E5DCCD"/>
          </a:solidFill>
          <a:ln w="15875" cap="flat" cmpd="sng">
            <a:solidFill>
              <a:srgbClr val="8C77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321040" y="36576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7762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8C7762"/>
                </a:solidFill>
                <a:latin typeface="Calibri"/>
                <a:ea typeface="Calibri"/>
                <a:cs typeface="Calibri"/>
                <a:sym typeface="Calibri"/>
              </a:rPr>
              <a:t>FMO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458200" y="42062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Framework Management (Docker/K8s)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777240" y="544068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2057400" y="5440680"/>
            <a:ext cx="9418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Python 3.10+ · FastAPI · PyTorch · SQLite · OpenCV · Pillow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77240" y="568756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AI/ML: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2057400" y="5687568"/>
            <a:ext cx="9418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YOLOv5s · EfficientNet-Lite3 · ResNet50 · AdvGAN · QKeras · SHAP · LIME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777240" y="593445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2057400" y="5934456"/>
            <a:ext cx="9418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React 18 · TypeScript 5.6 · Vite 6 · Tailwind CSS · shadcn/ui · Recharts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777240" y="618134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Infra: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057400" y="6181344"/>
            <a:ext cx="9418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Docker · Kubernetes · Istio · Nginx · ELK Stack · Prometheus/Grafana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Dynamic Attack Generator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DAG — Simulating physical adversarial attacks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DAG — Dynamic Attack Generator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548640" y="1371600"/>
            <a:ext cx="2697480" cy="292608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48640" y="1371600"/>
            <a:ext cx="2697480" cy="777240"/>
          </a:xfrm>
          <a:prstGeom prst="rect">
            <a:avLst/>
          </a:prstGeom>
          <a:solidFill>
            <a:srgbClr val="F2D9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48640" y="1417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FGSM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4008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Fast Gradient Sign 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731520" y="2331720"/>
            <a:ext cx="233172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ε = 0.1 × strength factor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Single-step gradient attack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Fast but less evasive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3364992" y="1371600"/>
            <a:ext cx="2697480" cy="292608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364992" y="1371600"/>
            <a:ext cx="2697480" cy="777240"/>
          </a:xfrm>
          <a:prstGeom prst="rect">
            <a:avLst/>
          </a:prstGeom>
          <a:solidFill>
            <a:srgbClr val="F2D9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3364992" y="1417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PGD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456432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Projected Gradient Descent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3547872" y="2331720"/>
            <a:ext cx="233172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Iterative escalation loop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+1.5ε per failed attempt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Up to 10 attempts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6181344" y="1371600"/>
            <a:ext cx="2697480" cy="292608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181344" y="1371600"/>
            <a:ext cx="2697480" cy="777240"/>
          </a:xfrm>
          <a:prstGeom prst="rect">
            <a:avLst/>
          </a:prstGeom>
          <a:solidFill>
            <a:srgbClr val="F2D9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6181344" y="1417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BIM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272784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Basic Iterative 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364224" y="2331720"/>
            <a:ext cx="233172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Multi-step FGSM variant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Improved transferability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Balanced speed/strength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8997696" y="1371600"/>
            <a:ext cx="2697480" cy="292608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8997696" y="1371600"/>
            <a:ext cx="2697480" cy="777240"/>
          </a:xfrm>
          <a:prstGeom prst="rect">
            <a:avLst/>
          </a:prstGeom>
          <a:solidFill>
            <a:srgbClr val="F2D9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8997696" y="1417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AdvGAN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9089136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GAN-Based Wearable Patches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9180576" y="2331720"/>
            <a:ext cx="233172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64×64 &amp; 128×128 patches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L_GAN + 0.5×L_adv loss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Physically plausible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48640" y="4572000"/>
            <a:ext cx="11064240" cy="960120"/>
          </a:xfrm>
          <a:prstGeom prst="rect">
            <a:avLst/>
          </a:prstGeom>
          <a:solidFill>
            <a:srgbClr val="F2D9D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777240" y="46177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Strength Escalation Algorithm: </a:t>
            </a:r>
            <a:r>
              <a:rPr lang="en-US" sz="12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Each attack starts at base strength. If misclassification is not achieved, strength increases by +1.5 per attempt for up to 10 attempts — guaranteeing adversarial output. JSON metadata (rotation, class, patch opacity) saved per image with atomic write &amp; integrity verification.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Workflow for DAG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548640" y="182880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FOR DAG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3">
            <a:alphaModFix/>
          </a:blip>
          <a:srcRect r="-5485" b="-4635"/>
          <a:stretch/>
        </p:blipFill>
        <p:spPr>
          <a:xfrm>
            <a:off x="6003400" y="473600"/>
            <a:ext cx="4872376" cy="606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Intelligent Vision Module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IVM — Tri-model ensemble threat detection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IVM — Intelligent Vision Module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48640" y="1371600"/>
            <a:ext cx="3657600" cy="301752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48640" y="1371600"/>
            <a:ext cx="3657600" cy="777240"/>
          </a:xfrm>
          <a:prstGeom prst="rect">
            <a:avLst/>
          </a:prstGeom>
          <a:solidFill>
            <a:srgbClr val="E5D9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Confidence Degradation Detector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731520" y="22860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ImageNet pre-trained, eval mode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Sigmoid blend: W_CONF=0.45 · W_ENTR=0.55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conf_mid &amp; entr_mid ← CALIBRATED_*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Hardened: suspicion_thresh = 0.45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4343400" y="1371600"/>
            <a:ext cx="3657600" cy="301752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343400" y="1371600"/>
            <a:ext cx="3657600" cy="777240"/>
          </a:xfrm>
          <a:prstGeom prst="rect">
            <a:avLst/>
          </a:prstGeom>
          <a:solidFill>
            <a:srgbClr val="E5D9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343400" y="1417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YOLOv5s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4343400" y="1828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Object-Level Disruption Detector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4526280" y="22860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Custom-trained on adversarial dataset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PIL resize 640×640, HWC→CHW, /255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 err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conf_thres</a:t>
            </a: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 ← CALIBRATED (0.25 / 0.15)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+0.25 bonus if 'patch/adv' in class name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138160" y="1371600"/>
            <a:ext cx="3657600" cy="301752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8138160" y="1371600"/>
            <a:ext cx="3657600" cy="777240"/>
          </a:xfrm>
          <a:prstGeom prst="rect">
            <a:avLst/>
          </a:prstGeom>
          <a:solidFill>
            <a:srgbClr val="E5D9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8138160" y="1417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Autoencoder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8138160" y="1828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Distribution Shift Detector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8321040" y="22860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Skip-connections e1–e4, latent dim=512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Input: 64×64, MSE(input, reconstructed)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threshold ← CALIBRATED_AE_MSE_*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k = 10 / threshold → sigmoid → adv_prob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Two detection postures (switched by ARE via POST /api/switch-model):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48640" y="4937760"/>
            <a:ext cx="5486400" cy="457200"/>
          </a:xfrm>
          <a:prstGeom prst="rect">
            <a:avLst/>
          </a:prstGeom>
          <a:solidFill>
            <a:srgbClr val="D8E1EB"/>
          </a:solidFill>
          <a:ln w="12700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85800" y="49377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Normal: </a:t>
            </a: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Threshold 0.55 · YOLO×1.5 · AE×1.2 · ResNet×1.0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126480" y="4937760"/>
            <a:ext cx="5486400" cy="457200"/>
          </a:xfrm>
          <a:prstGeom prst="rect">
            <a:avLst/>
          </a:prstGeom>
          <a:solidFill>
            <a:srgbClr val="F2D9D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6263640" y="49377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Hardened: </a:t>
            </a: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Threshold 0.40 · YOLO×2.0 · AE×1.8 · ResNet×1.2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685800" y="550468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3-Strategy Ensemble: </a:t>
            </a:r>
            <a:r>
              <a:rPr lang="en-US" sz="11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Weighted soft voting + Weighted hard majority + Stacking meta-learner (logistic regression — all weights &amp; coefficients from calibration_loader)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685800" y="5943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onsolas"/>
              <a:buNone/>
            </a:pPr>
            <a:r>
              <a:rPr lang="en-US" sz="1100" b="1">
                <a:solidFill>
                  <a:srgbClr val="5C4A3A"/>
                </a:solidFill>
                <a:latin typeface="Consolas"/>
                <a:ea typeface="Consolas"/>
                <a:cs typeface="Consolas"/>
                <a:sym typeface="Consolas"/>
              </a:rPr>
              <a:t>final_score = (soft + hard + stack) / 3.0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937760" y="59436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F2D9D0"/>
          </a:solidFill>
          <a:ln w="952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937760" y="5943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Critical ≥ 0.85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629400" y="59436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F0DFC2"/>
          </a:solidFill>
          <a:ln w="9525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6629400" y="5943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High ≥ 0.65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8321040" y="59436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9525" cap="flat" cmpd="sng">
            <a:solidFill>
              <a:srgbClr val="CA8A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8321040" y="5943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8A0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A8A04"/>
                </a:solidFill>
                <a:latin typeface="Calibri"/>
                <a:ea typeface="Calibri"/>
                <a:cs typeface="Calibri"/>
                <a:sym typeface="Calibri"/>
              </a:rPr>
              <a:t>Medium ≥ 0.40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10012680" y="5943600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EEE5D2"/>
          </a:solidFill>
          <a:ln w="9525" cap="flat" cmpd="sng">
            <a:solidFill>
              <a:srgbClr val="8B79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0012680" y="5943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Low &lt; 0.40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/>
          <p:nvPr/>
        </p:nvSpPr>
        <p:spPr>
          <a:xfrm>
            <a:off x="365740" y="338315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Workflow for IVM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48640" y="182880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FOR IVM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5675" y="49800"/>
            <a:ext cx="4172126" cy="675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Explainable AI Engine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XAI — Transparent, interpretable forensics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XAI — Explainable AI Engine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548640" y="1280160"/>
            <a:ext cx="3657600" cy="411480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548640" y="1280160"/>
            <a:ext cx="3657600" cy="777240"/>
          </a:xfrm>
          <a:prstGeom prst="rect">
            <a:avLst/>
          </a:prstGeom>
          <a:solidFill>
            <a:srgbClr val="E0E2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Grad-CAM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Gradient-Weighted Class Activation Maps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731520" y="24871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Best for spatial localization of attack regions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73152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731520" y="34015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Gradient-weighted feature maps highlight which image regions most influenced the model's prediction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731520" y="4023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731520" y="43159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Heatmap overlay — 50ms latency target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4343400" y="1280160"/>
            <a:ext cx="3657600" cy="411480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4343400" y="1280160"/>
            <a:ext cx="3657600" cy="777240"/>
          </a:xfrm>
          <a:prstGeom prst="rect">
            <a:avLst/>
          </a:prstGeom>
          <a:solidFill>
            <a:srgbClr val="E0E2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434340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SHAP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34340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SHapley Additive Explanations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52628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4526280" y="24871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Game-theoretic fairness guarantees on attribution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452628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4526280" y="34015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Computes each feature's marginal contribution across all possible feature coalitions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4526280" y="4023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4526280" y="43159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Top-5 ranked features with % contribution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8138160" y="1280160"/>
            <a:ext cx="3657600" cy="411480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8138160" y="1280160"/>
            <a:ext cx="3657600" cy="777240"/>
          </a:xfrm>
          <a:prstGeom prst="rect">
            <a:avLst/>
          </a:prstGeom>
          <a:solidFill>
            <a:srgbClr val="E0E2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813816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LIME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813816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Local Interpretable Model-Agnostic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832104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8321040" y="24871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Works on non-differentiable models — model agnostic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832104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8321040" y="34015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Superpixel-based perturbation builds local linear approximation around each prediction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8321040" y="4023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8321040" y="43159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JSON export for SIEM ingestion &amp; forensic sharing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EEE5D2"/>
          </a:solidFill>
          <a:ln w="12700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777240" y="5605272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Cross-Verification: </a:t>
            </a:r>
            <a:r>
              <a:rPr lang="en-US" sz="12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All three XAI methods run independently on every prediction, then results are cross-verified for consistency. Top-5 feature attributions are ranked, normalized to %, and exported as JSON for SIEM ingestion and forensic sharing with analysts.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Autonomous Response Engine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ARE — Zero-human-intervention threat mitigation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ARE — Autonomous Response Engine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548640" y="1280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6 Action Types  (ActionType enum)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548640" y="1645920"/>
            <a:ext cx="2240280" cy="502920"/>
          </a:xfrm>
          <a:prstGeom prst="rect">
            <a:avLst/>
          </a:prstGeom>
          <a:solidFill>
            <a:srgbClr val="F2D9D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548640" y="16459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ISOLATE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2880360" y="1645920"/>
            <a:ext cx="2240280" cy="502920"/>
          </a:xfrm>
          <a:prstGeom prst="rect">
            <a:avLst/>
          </a:prstGeom>
          <a:solidFill>
            <a:srgbClr val="E5D9E5"/>
          </a:solidFill>
          <a:ln w="12700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2880360" y="16459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SWITCH_MODEL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5212080" y="1645920"/>
            <a:ext cx="2240280" cy="502920"/>
          </a:xfrm>
          <a:prstGeom prst="rect">
            <a:avLst/>
          </a:prstGeom>
          <a:solidFill>
            <a:srgbClr val="F0DFC2"/>
          </a:solidFill>
          <a:ln w="12700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5212080" y="16459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ESCALATE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548640" y="2240280"/>
            <a:ext cx="2240280" cy="502920"/>
          </a:xfrm>
          <a:prstGeom prst="rect">
            <a:avLst/>
          </a:prstGeom>
          <a:solidFill>
            <a:srgbClr val="E5DCCD"/>
          </a:solidFill>
          <a:ln w="12700" cap="flat" cmpd="sng">
            <a:solidFill>
              <a:srgbClr val="8C77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548640" y="22402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776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8C7762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2880360" y="2240280"/>
            <a:ext cx="2240280" cy="502920"/>
          </a:xfrm>
          <a:prstGeom prst="rect">
            <a:avLst/>
          </a:prstGeom>
          <a:solidFill>
            <a:srgbClr val="D8E1EB"/>
          </a:solidFill>
          <a:ln w="12700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2880360" y="22402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5212080" y="2240280"/>
            <a:ext cx="2240280" cy="502920"/>
          </a:xfrm>
          <a:prstGeom prst="rect">
            <a:avLst/>
          </a:prstGeom>
          <a:solidFill>
            <a:srgbClr val="E0E2CE"/>
          </a:solidFill>
          <a:ln w="12700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5212080" y="22402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48640" y="2926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Condition Evaluator · 4 SQLite Tables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548640" y="3246120"/>
            <a:ext cx="6858000" cy="914400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685800" y="3291840"/>
            <a:ext cx="6629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9 allowed fields: </a:t>
            </a:r>
            <a:r>
              <a:rPr lang="en-US" sz="10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threat.severity · threat.confidence · threat.status · agent.deviation · agent.confidence · agent.anomaly_score · model.accuracy · model.robustness · model.latency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Evaluator: </a:t>
            </a:r>
            <a:r>
              <a:rPr lang="en-US" sz="10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eval(py_condition, {"__builtins__": {}}, namespace) — injection-proof sandboxed Python eval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48640" y="4297680"/>
            <a:ext cx="3337560" cy="502920"/>
          </a:xfrm>
          <a:prstGeom prst="rect">
            <a:avLst/>
          </a:prstGeom>
          <a:solidFill>
            <a:srgbClr val="FBF7F0"/>
          </a:solidFill>
          <a:ln w="12700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548640" y="4297680"/>
            <a:ext cx="73152" cy="50292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731520" y="43434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policies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731520" y="454456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CRUD · priority-ordered · enabled flag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4069080" y="4297680"/>
            <a:ext cx="3337560" cy="502920"/>
          </a:xfrm>
          <a:prstGeom prst="rect">
            <a:avLst/>
          </a:prstGeom>
          <a:solidFill>
            <a:srgbClr val="FBF7F0"/>
          </a:solidFill>
          <a:ln w="12700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4069080" y="4297680"/>
            <a:ext cx="73152" cy="502920"/>
          </a:xfrm>
          <a:prstGeom prst="rect">
            <a:avLst/>
          </a:prstGeom>
          <a:solidFill>
            <a:srgbClr val="6B8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4251960" y="43434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4251960" y="454456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execution log · executionTime · result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548640" y="4846320"/>
            <a:ext cx="3337560" cy="502920"/>
          </a:xfrm>
          <a:prstGeom prst="rect">
            <a:avLst/>
          </a:prstGeom>
          <a:solidFill>
            <a:srgbClr val="FBF7F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548640" y="4846320"/>
            <a:ext cx="73152" cy="50292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731520" y="489204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isolations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731520" y="50932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1-year TTL · manual release via DELETE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4069080" y="4846320"/>
            <a:ext cx="3337560" cy="502920"/>
          </a:xfrm>
          <a:prstGeom prst="rect">
            <a:avLst/>
          </a:prstGeom>
          <a:solidFill>
            <a:srgbClr val="FBF7F0"/>
          </a:solidFill>
          <a:ln w="12700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4069080" y="4846320"/>
            <a:ext cx="73152" cy="50292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4251960" y="489204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threat_intel_log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251960" y="50932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MITRE ATT&amp;CK live sync history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548640" y="5486400"/>
            <a:ext cx="6858000" cy="640080"/>
          </a:xfrm>
          <a:prstGeom prst="rect">
            <a:avLst/>
          </a:prstGeom>
          <a:solidFill>
            <a:srgbClr val="F2D9D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685800" y="5532120"/>
            <a:ext cx="6629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Isolate action: </a:t>
            </a:r>
            <a:r>
              <a:rPr lang="en-US" sz="100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1-year TTL (ISOLATION_DURATION_S = 31,536,000s) · ON CONFLICT DO UPDATE · manual release via DELETE /api/are/isolations/{threat_id} or by filename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MITRE ATLAS Default Policies (seeded on startup)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7680960" y="1600200"/>
            <a:ext cx="914400" cy="292608"/>
          </a:xfrm>
          <a:prstGeom prst="rect">
            <a:avLst/>
          </a:prstGeom>
          <a:solidFill>
            <a:srgbClr val="F2D9D0"/>
          </a:solidFill>
          <a:ln w="952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7680960" y="16002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P1 Critical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8641080" y="160020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severity=="critical" AND conf≥0.85 → isolate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7680960" y="1929384"/>
            <a:ext cx="914400" cy="292608"/>
          </a:xfrm>
          <a:prstGeom prst="rect">
            <a:avLst/>
          </a:prstGeom>
          <a:solidFill>
            <a:srgbClr val="F2D9D0"/>
          </a:solidFill>
          <a:ln w="9525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7680960" y="192938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P2 Critical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8641080" y="192938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severity=="critical" AND conf≥0.80 → isolate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7680960" y="2258568"/>
            <a:ext cx="914400" cy="292608"/>
          </a:xfrm>
          <a:prstGeom prst="rect">
            <a:avLst/>
          </a:prstGeom>
          <a:solidFill>
            <a:srgbClr val="F0DFC2"/>
          </a:solidFill>
          <a:ln w="9525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7680960" y="225856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P3 High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8641080" y="2258568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severity=="high" AND conf≥0.65 → escalate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7680960" y="2587752"/>
            <a:ext cx="914400" cy="292608"/>
          </a:xfrm>
          <a:prstGeom prst="rect">
            <a:avLst/>
          </a:prstGeom>
          <a:solidFill>
            <a:srgbClr val="F0DFC2"/>
          </a:solidFill>
          <a:ln w="9525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7680960" y="258775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P4 High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8641080" y="258775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model.accuracy&lt;0.60 → switch_model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7680960" y="2916936"/>
            <a:ext cx="914400" cy="292608"/>
          </a:xfrm>
          <a:prstGeom prst="rect">
            <a:avLst/>
          </a:prstGeom>
          <a:solidFill>
            <a:srgbClr val="F0DFC2"/>
          </a:solidFill>
          <a:ln w="9525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7680960" y="2916936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P5 High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8641080" y="291693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agent.deviation≥0.40 → escalate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7680960" y="3246120"/>
            <a:ext cx="914400" cy="292608"/>
          </a:xfrm>
          <a:prstGeom prst="rect">
            <a:avLst/>
          </a:prstGeom>
          <a:solidFill>
            <a:srgbClr val="FEF9C3"/>
          </a:solidFill>
          <a:ln w="9525" cap="flat" cmpd="sng">
            <a:solidFill>
              <a:srgbClr val="CA8A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7680960" y="324612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8A0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A8A04"/>
                </a:solidFill>
                <a:latin typeface="Calibri"/>
                <a:ea typeface="Calibri"/>
                <a:cs typeface="Calibri"/>
                <a:sym typeface="Calibri"/>
              </a:rPr>
              <a:t>P6 Medium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8641080" y="324612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severity=="medium" AND conf≥0.50 → switch_model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7680960" y="3575304"/>
            <a:ext cx="914400" cy="292608"/>
          </a:xfrm>
          <a:prstGeom prst="rect">
            <a:avLst/>
          </a:prstGeom>
          <a:solidFill>
            <a:srgbClr val="FEF9C3"/>
          </a:solidFill>
          <a:ln w="9525" cap="flat" cmpd="sng">
            <a:solidFill>
              <a:srgbClr val="CA8A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7680960" y="35753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8A04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A8A04"/>
                </a:solidFill>
                <a:latin typeface="Calibri"/>
                <a:ea typeface="Calibri"/>
                <a:cs typeface="Calibri"/>
                <a:sym typeface="Calibri"/>
              </a:rPr>
              <a:t>P7 Medium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8641080" y="357530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agent.confidence&lt;0.60 → log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7680960" y="3904488"/>
            <a:ext cx="914400" cy="292608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8B79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7680960" y="390448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P8 Low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8641080" y="3904488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severity=="low" AND conf≥0.30 → monitor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7680960" y="4434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Live MITRE ATT&amp;CK Feed Sync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7680960" y="4754880"/>
            <a:ext cx="411480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00"/>
              <a:buFont typeface="Calibri"/>
              <a:buChar char="■"/>
            </a:pPr>
            <a:r>
              <a:rPr lang="en-US" sz="10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POST /api/are/sync-threat-intel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5C4A3A"/>
              </a:buClr>
              <a:buSzPts val="1000"/>
              <a:buFont typeface="Calibri"/>
              <a:buChar char="■"/>
            </a:pPr>
            <a:r>
              <a:rPr lang="en-US" sz="10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Fetches STIX bundle from MITRE ATT&amp;CK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5C4A3A"/>
              </a:buClr>
              <a:buSzPts val="1000"/>
              <a:buFont typeface="Calibri"/>
              <a:buChar char="■"/>
            </a:pPr>
            <a:r>
              <a:rPr lang="en-US" sz="10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Filters ML-relevant techniques (11 keywords)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5C4A3A"/>
              </a:buClr>
              <a:buSzPts val="1000"/>
              <a:buFont typeface="Calibri"/>
              <a:buChar char="■"/>
            </a:pPr>
            <a:r>
              <a:rPr lang="en-US" sz="10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Inserts as disabled policies (priority=99)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5C4A3A"/>
              </a:buClr>
              <a:buSzPts val="1000"/>
              <a:buFont typeface="Calibri"/>
              <a:buChar char="■"/>
            </a:pPr>
            <a:r>
              <a:rPr lang="en-US" sz="10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Logs each new policy to SIEM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5C4A3A"/>
              </a:buClr>
              <a:buSzPts val="1000"/>
              <a:buFont typeface="Calibri"/>
              <a:buChar char="■"/>
            </a:pPr>
            <a:r>
              <a:rPr lang="en-US" sz="10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[INTEL] prefix — analyst must review before enabling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B8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Supporting Infrastructure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SRC · LSE · FMO — Security, Logging &amp; Operations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Supporting Infrastructure Modules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548640" y="1280160"/>
            <a:ext cx="3657600" cy="493776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548640" y="1280160"/>
            <a:ext cx="3657600" cy="822960"/>
          </a:xfrm>
          <a:prstGeom prst="rect">
            <a:avLst/>
          </a:prstGeom>
          <a:solidFill>
            <a:srgbClr val="D8E1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SRC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Secure Response &amp; Coordination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777240" y="2286000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MAES-256-GCM application-layer encryption on all inter-module messages.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HMAC-SHA3-256 signed audit log — every message logged with a cryptographic signature, tamper detectable.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Self-signed X.509 RSA-2048 certificates generated per module with 30-day automatic rotation.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Rate limiting &amp; DoS protection with per-agent throttling.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4343400" y="1280160"/>
            <a:ext cx="3657600" cy="493776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B368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4343400" y="1280160"/>
            <a:ext cx="3657600" cy="822960"/>
          </a:xfrm>
          <a:prstGeom prst="rect">
            <a:avLst/>
          </a:prstGeom>
          <a:solidFill>
            <a:srgbClr val="ECD3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434340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6876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B36876"/>
                </a:solidFill>
                <a:latin typeface="Calibri"/>
                <a:ea typeface="Calibri"/>
                <a:cs typeface="Calibri"/>
                <a:sym typeface="Calibri"/>
              </a:rPr>
              <a:t>LSE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4343400" y="1783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Logging &amp; SIEM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4572000" y="2286000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Elasticsearch-backed log indexing with real-time 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queryable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SIEM dashboard.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SHA-3 cryptographic integrity hashing on every log entry, tamper-evident audit trail.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Per-module severity-tagged logging (Info, Warning, Error, Critical) with full metadata from all 8 backends.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8138160" y="1280160"/>
            <a:ext cx="3657600" cy="4937760"/>
          </a:xfrm>
          <a:prstGeom prst="rect">
            <a:avLst/>
          </a:prstGeom>
          <a:solidFill>
            <a:srgbClr val="FBF7F0"/>
          </a:solidFill>
          <a:ln w="15875" cap="flat" cmpd="sng">
            <a:solidFill>
              <a:srgbClr val="8C77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8138160" y="1280160"/>
            <a:ext cx="3657600" cy="822960"/>
          </a:xfrm>
          <a:prstGeom prst="rect">
            <a:avLst/>
          </a:prstGeom>
          <a:solidFill>
            <a:srgbClr val="E5DCC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8138160" y="1325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7762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8C7762"/>
                </a:solidFill>
                <a:latin typeface="Calibri"/>
                <a:ea typeface="Calibri"/>
                <a:cs typeface="Calibri"/>
                <a:sym typeface="Calibri"/>
              </a:rPr>
              <a:t>FMO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8138160" y="1783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Framework Management &amp; Optimization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8366760" y="2286000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Docker containerization, one </a:t>
            </a:r>
            <a:r>
              <a:rPr lang="en-US" sz="1100" dirty="0" err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Dockerfile</a:t>
            </a: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 per module</a:t>
            </a: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Each module runs in an isolated container on its own port, communicating over an internal Docker bridge network with Nginx as the reverse proxy on port 80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Named Docker volumes persist all databases across restarts, fully reproducible environment, runs identically on any machine with Docker installed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Char char="■"/>
            </a:pP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Deployed on Google Cloud VPS, the entire </a:t>
            </a:r>
            <a:r>
              <a:rPr lang="en-US" sz="1100" dirty="0" err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containerised</a:t>
            </a:r>
            <a:r>
              <a:rPr lang="en-US" sz="1100" dirty="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 system hosted on a virtual private server, making PhantomNet++ accessible over the internet as a live running platform</a:t>
            </a:r>
          </a:p>
        </p:txBody>
      </p:sp>
      <p:sp>
        <p:nvSpPr>
          <p:cNvPr id="515" name="Google Shape;515;p2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959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Frontend Dashboard (DUI)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React 18 · TypeScript · Real-time monitoring UI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DUI — Dashboard User Interface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7-Module Single Page Application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548640" y="169164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/>
          <p:nvPr/>
        </p:nvSpPr>
        <p:spPr>
          <a:xfrm>
            <a:off x="548640" y="1691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2514600" y="16916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KPI metrics, scan activity chart, severity distribution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Threat Detection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2514600" y="2240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Live adversarial threat feed, 5s polling, 50-entry cap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548640" y="278892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548640" y="2788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Attack Simulation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2514600" y="2788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Launch FGSM/PGD/AdvGAN attacks, view results in real time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XAI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/>
          <p:nvPr/>
        </p:nvSpPr>
        <p:spPr>
          <a:xfrm>
            <a:off x="2514600" y="3337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Interactive Grad-CAM heatmap exploration, SHAP/LIME results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548640" y="388620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6"/>
          <p:cNvSpPr/>
          <p:nvPr/>
        </p:nvSpPr>
        <p:spPr>
          <a:xfrm>
            <a:off x="548640" y="3886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Response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2514600" y="3886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Policy CRUD, active isolations, autonomous action log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548640" y="443484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548640" y="4434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SIEM Logs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2514600" y="4434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Filterable log viewer with severity badges and module tags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548640" y="4983480"/>
            <a:ext cx="1828800" cy="457200"/>
          </a:xfrm>
          <a:prstGeom prst="rect">
            <a:avLst/>
          </a:prstGeom>
          <a:solidFill>
            <a:srgbClr val="D5E0E0"/>
          </a:solidFill>
          <a:ln w="12700" cap="flat" cmpd="sng">
            <a:solidFill>
              <a:srgbClr val="7A95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548640" y="49834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Settings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2514600" y="4983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50"/>
              <a:buFont typeface="Calibri"/>
              <a:buNone/>
            </a:pPr>
            <a:r>
              <a:rPr lang="en-US" sz="1150" dirty="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RBAC config, API key management, notification preferences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7955280" y="1280160"/>
            <a:ext cx="3657600" cy="5120640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818388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595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7A9595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8183880" y="19659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React: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9646920" y="196596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18.3.1 — Core UI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818388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TypeScript: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9646920" y="24688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5.6.2 — Type safety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8183880" y="29718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Vite: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9646920" y="297180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6.0.1 — Build system + HMR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818388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React Router: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9646920" y="347472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v6 — 7-module SPA routing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8183880" y="3977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Recharts: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9646920" y="397764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2.13.3 — Real-time charts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183880" y="4480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Tailwind CSS: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9646920" y="448056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3.4.17 — Utility styling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8183880" y="4983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shadcn/ui: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9646920" y="49834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Radix-based components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8183880" y="54864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are-integration.ts: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9646920" y="548640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IVM → ARE auto bridge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Testing &amp; Results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Comprehensive validation across all modules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8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Testing Methodology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548640" y="1280160"/>
            <a:ext cx="2377440" cy="868680"/>
          </a:xfrm>
          <a:prstGeom prst="rect">
            <a:avLst/>
          </a:prstGeom>
          <a:solidFill>
            <a:srgbClr val="D8E1EB"/>
          </a:solidFill>
          <a:ln w="12700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Unit Testing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548640" y="1737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Pytest / Jest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3108960" y="1280160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Isolated verification of individual functions: image preprocessing, attack generation, physical transformations, threat scoring, model evaluation, consensus logic.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548640" y="2240280"/>
            <a:ext cx="2377440" cy="868680"/>
          </a:xfrm>
          <a:prstGeom prst="rect">
            <a:avLst/>
          </a:prstGeom>
          <a:solidFill>
            <a:srgbClr val="E0E2CE"/>
          </a:solidFill>
          <a:ln w="12700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Functional Testing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548640" y="2697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3108960" y="2240280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Validates complete user-facing features: launching attacks, viewing threats, navigating the dashboard. Confirms functional requirements are met.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548640" y="3200400"/>
            <a:ext cx="2377440" cy="868680"/>
          </a:xfrm>
          <a:prstGeom prst="rect">
            <a:avLst/>
          </a:prstGeom>
          <a:solidFill>
            <a:srgbClr val="E5D9E5"/>
          </a:solidFill>
          <a:ln w="12700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548640" y="32918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Integration Testing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548640" y="36576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Pipeline Flow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3108960" y="3200400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Cross-module data flow: DAG→IVM, model management→XAI, threat detection→dashboard, attack generation→persistence. Ensures modules work as a unified system.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548640" y="4160520"/>
            <a:ext cx="2377440" cy="868680"/>
          </a:xfrm>
          <a:prstGeom prst="rect">
            <a:avLst/>
          </a:prstGeom>
          <a:solidFill>
            <a:srgbClr val="F0DFC2"/>
          </a:solidFill>
          <a:ln w="12700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548640" y="42519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Business Rule Testing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548640" y="46177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Decision Tables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3108960" y="4160520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Severity classification rules, physical constraint compliance, patch application behavior, save-failure handling. Verifies rule-based workflows are consistent.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548640" y="5120640"/>
            <a:ext cx="2377440" cy="868680"/>
          </a:xfrm>
          <a:prstGeom prst="rect">
            <a:avLst/>
          </a:prstGeom>
          <a:solidFill>
            <a:srgbClr val="F2D9D0"/>
          </a:solidFill>
          <a:ln w="1270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548640" y="52120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Performance Testing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548640" y="55778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Load &amp; Timing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3108960" y="5120640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Page load times (&lt;2s), real-time update handling (&lt;100ms UI), ARE response throughput, DAG generation speed, memory usage benchmarks.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solidFill>
            <a:srgbClr val="EEE5D2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Testing Environment: Google Colab (Tesla T4 GPU, CUDA 12.6) / Linux DevStaging  ·  Sprints 1–4 (Production Build)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9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Key Results &amp; Performance Metrics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548640" y="1280160"/>
            <a:ext cx="3593592" cy="1920240"/>
          </a:xfrm>
          <a:prstGeom prst="rect">
            <a:avLst/>
          </a:prstGeom>
          <a:solidFill>
            <a:srgbClr val="FBF7F0"/>
          </a:solidFill>
          <a:ln w="1905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548640" y="1280160"/>
            <a:ext cx="3593592" cy="9144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548640" y="1554480"/>
            <a:ext cx="35935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5600"/>
              <a:buFont typeface="Calibri"/>
              <a:buNone/>
            </a:pPr>
            <a:r>
              <a:rPr lang="en-US" sz="5600" b="1" dirty="0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 sz="5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548640" y="260604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Attack Success Rate (ASR)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4279392" y="1280160"/>
            <a:ext cx="3593592" cy="1920240"/>
          </a:xfrm>
          <a:prstGeom prst="rect">
            <a:avLst/>
          </a:prstGeom>
          <a:solidFill>
            <a:srgbClr val="FBF7F0"/>
          </a:solidFill>
          <a:ln w="19050" cap="flat" cmpd="sng">
            <a:solidFill>
              <a:srgbClr val="7B8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4279392" y="1280160"/>
            <a:ext cx="3593592" cy="91440"/>
          </a:xfrm>
          <a:prstGeom prst="rect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4279392" y="1554480"/>
            <a:ext cx="35935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5600"/>
              <a:buFont typeface="Calibri"/>
              <a:buNone/>
            </a:pPr>
            <a:r>
              <a:rPr lang="en-US" sz="56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0.978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4279392" y="260604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Clean Model Confidence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8010144" y="1280160"/>
            <a:ext cx="3593592" cy="1920240"/>
          </a:xfrm>
          <a:prstGeom prst="rect">
            <a:avLst/>
          </a:prstGeom>
          <a:solidFill>
            <a:srgbClr val="FBF7F0"/>
          </a:solidFill>
          <a:ln w="19050" cap="flat" cmpd="sng">
            <a:solidFill>
              <a:srgbClr val="B548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8010144" y="1280160"/>
            <a:ext cx="3593592" cy="9144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8010144" y="1554480"/>
            <a:ext cx="35935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5600"/>
              <a:buFont typeface="Calibri"/>
              <a:buNone/>
            </a:pPr>
            <a:r>
              <a:rPr lang="en-US" sz="56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0.480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8010144" y="260604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Under-Attack Confidence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548640" y="3291840"/>
            <a:ext cx="3593592" cy="1920240"/>
          </a:xfrm>
          <a:prstGeom prst="rect">
            <a:avLst/>
          </a:prstGeom>
          <a:solidFill>
            <a:srgbClr val="FBF7F0"/>
          </a:solidFill>
          <a:ln w="19050" cap="flat" cmpd="sng">
            <a:solidFill>
              <a:srgbClr val="8B6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548640" y="3291840"/>
            <a:ext cx="3593592" cy="9144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548640" y="3566160"/>
            <a:ext cx="35935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5600"/>
              <a:buFont typeface="Calibri"/>
              <a:buNone/>
            </a:pPr>
            <a:r>
              <a:rPr lang="en-US" sz="56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0.61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548640" y="461772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Autoencoder MSE (attack)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4279392" y="3291840"/>
            <a:ext cx="3593592" cy="1920240"/>
          </a:xfrm>
          <a:prstGeom prst="rect">
            <a:avLst/>
          </a:prstGeom>
          <a:solidFill>
            <a:srgbClr val="FBF7F0"/>
          </a:solidFill>
          <a:ln w="19050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4279392" y="3291840"/>
            <a:ext cx="3593592" cy="9144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4279392" y="3566160"/>
            <a:ext cx="35935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5600"/>
              <a:buFont typeface="Calibri"/>
              <a:buNone/>
            </a:pPr>
            <a:r>
              <a:rPr lang="en-US" sz="56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94.2%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4279392" y="461772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ARE Response Success Rate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8010144" y="3291840"/>
            <a:ext cx="3593592" cy="1920240"/>
          </a:xfrm>
          <a:prstGeom prst="rect">
            <a:avLst/>
          </a:prstGeom>
          <a:solidFill>
            <a:srgbClr val="FBF7F0"/>
          </a:solidFill>
          <a:ln w="19050" cap="flat" cmpd="sng">
            <a:solidFill>
              <a:srgbClr val="6B8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8010144" y="3291840"/>
            <a:ext cx="3593592" cy="91440"/>
          </a:xfrm>
          <a:prstGeom prst="rect">
            <a:avLst/>
          </a:prstGeom>
          <a:solidFill>
            <a:srgbClr val="6B8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8010144" y="3566160"/>
            <a:ext cx="359359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5600"/>
              <a:buFont typeface="Calibri"/>
              <a:buNone/>
            </a:pPr>
            <a:r>
              <a:rPr lang="en-US" sz="56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&lt;100ms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8010144" y="461772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ARE Reaction Time SLA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solidFill>
            <a:srgbClr val="EEE5D2"/>
          </a:solidFill>
          <a:ln w="12700" cap="flat" cmpd="sng">
            <a:solidFill>
              <a:srgbClr val="C68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Ensemble Result:  </a:t>
            </a:r>
            <a:r>
              <a:rPr lang="en-US" sz="1250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Adversarial confidence drops from 0.978 (clean) → 0.480 (under attack) — detected by ResNet50 flag.  Autoencoder MSE = 0.61 vs threshold 0.45 — distribution shift confirmed.  Top-5 XAI features cross-verified by Grad-CAM, SHAP &amp; LIME.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548640" y="1280160"/>
            <a:ext cx="502920" cy="1234440"/>
          </a:xfrm>
          <a:prstGeom prst="rect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548640" y="128016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1051560" y="128016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1188720" y="137160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Data-Driven Threshold Calibration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1188720" y="169164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 future calibration pipeline would continuously refine thresholds using ROC curve analysis on accumulated scan data, making the system self-improving over time.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548640" y="2606040"/>
            <a:ext cx="502920" cy="1234440"/>
          </a:xfrm>
          <a:prstGeom prst="rect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548640" y="260604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1051560" y="260604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1188720" y="269748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Autoencoder Continuous Retraining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1188720" y="301752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Wire ARE Policy 9 (model robustness trigger) to a background job that retrains the Autoencoder on newly seen clean images and hot-swaps weights without any system downtime.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548640" y="3931920"/>
            <a:ext cx="502920" cy="1234440"/>
          </a:xfrm>
          <a:prstGeom prst="rect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548640" y="393192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1051560" y="393192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1188720" y="402336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Analyst Feedback Loop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1188720" y="434340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Analysts confirming or dismissing decisions from the Review panel accumulate labelled ground truth, feeding back into ensemble weighting — closing a human-in-the-loop cycle.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548640" y="5257800"/>
            <a:ext cx="502920" cy="1234440"/>
          </a:xfrm>
          <a:prstGeom prst="rect">
            <a:avLst/>
          </a:prstGeom>
          <a:solidFill>
            <a:srgbClr val="6B8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548640" y="52578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1051560" y="525780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1188720" y="53492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Agent Behavior Baselining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0"/>
          <p:cNvSpPr/>
          <p:nvPr/>
        </p:nvSpPr>
        <p:spPr>
          <a:xfrm>
            <a:off x="1188720" y="566928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ARE policy conditions on agent deviation can be made fully dynamic by observing normal inter-module traffic during a warm-up period, then auto-setting thresholds at 2 standard deviations from baseline.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6309360" y="1280160"/>
            <a:ext cx="502920" cy="123444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0"/>
          <p:cNvSpPr/>
          <p:nvPr/>
        </p:nvSpPr>
        <p:spPr>
          <a:xfrm>
            <a:off x="6309360" y="128016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0"/>
          <p:cNvSpPr/>
          <p:nvPr/>
        </p:nvSpPr>
        <p:spPr>
          <a:xfrm>
            <a:off x="6812280" y="128016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/>
          <p:nvPr/>
        </p:nvSpPr>
        <p:spPr>
          <a:xfrm>
            <a:off x="6949440" y="137160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Expanded Attack Simulation Coverage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6949440" y="169164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Extend DAG to cover transformer-based adversarial attacks and adaptive multi-step attacks, providing a more rigorous stress test of the ensemble under adversary-aware conditions.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6309360" y="2606040"/>
            <a:ext cx="502920" cy="1234440"/>
          </a:xfrm>
          <a:prstGeom prst="rect">
            <a:avLst/>
          </a:prstGeom>
          <a:solidFill>
            <a:srgbClr val="B368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0"/>
          <p:cNvSpPr/>
          <p:nvPr/>
        </p:nvSpPr>
        <p:spPr>
          <a:xfrm>
            <a:off x="6309360" y="260604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0"/>
          <p:cNvSpPr/>
          <p:nvPr/>
        </p:nvSpPr>
        <p:spPr>
          <a:xfrm>
            <a:off x="6812280" y="260604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6949440" y="269748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Secrets Management Hardening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/>
          <p:nvPr/>
        </p:nvSpPr>
        <p:spPr>
          <a:xfrm>
            <a:off x="6949440" y="301752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SRC encryption keys, currently derived at startup, can be migrated to a dedicated secrets manager such as HashiCorp Vault for production-grade deployment security.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0"/>
          <p:cNvSpPr/>
          <p:nvPr/>
        </p:nvSpPr>
        <p:spPr>
          <a:xfrm>
            <a:off x="6309360" y="3931920"/>
            <a:ext cx="502920" cy="1234440"/>
          </a:xfrm>
          <a:prstGeom prst="rect">
            <a:avLst/>
          </a:prstGeom>
          <a:solidFill>
            <a:srgbClr val="8C77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/>
          <p:nvPr/>
        </p:nvSpPr>
        <p:spPr>
          <a:xfrm>
            <a:off x="6309360" y="393192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6812280" y="3931920"/>
            <a:ext cx="4983480" cy="1234440"/>
          </a:xfrm>
          <a:prstGeom prst="rect">
            <a:avLst/>
          </a:prstGeom>
          <a:solidFill>
            <a:srgbClr val="FBF7F0"/>
          </a:solidFill>
          <a:ln w="9525" cap="flat" cmpd="sng">
            <a:solidFill>
              <a:srgbClr val="D6C7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6949440" y="402336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Hardware Support &amp; Live Feeds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/>
          <p:nvPr/>
        </p:nvSpPr>
        <p:spPr>
          <a:xfrm>
            <a:off x="6949440" y="434340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Expand the system to support hardware integration, live camera feeds, real-world simulations, and live external threat feeds for fully operational deployment.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640080" y="1444752"/>
            <a:ext cx="228600" cy="228600"/>
          </a:xfrm>
          <a:prstGeom prst="ellipse">
            <a:avLst/>
          </a:prstGeom>
          <a:solidFill>
            <a:srgbClr val="B548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960120" y="1280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48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B5483D"/>
                </a:solidFill>
                <a:latin typeface="Calibri"/>
                <a:ea typeface="Calibri"/>
                <a:cs typeface="Calibri"/>
                <a:sym typeface="Calibri"/>
              </a:rPr>
              <a:t>Comprehensive Threat Simulation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1"/>
          <p:cNvSpPr/>
          <p:nvPr/>
        </p:nvSpPr>
        <p:spPr>
          <a:xfrm>
            <a:off x="960120" y="164592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DAG delivers 4 attack types (FGSM, PGD, BIM, AdvGAN) producing 1,051 adversarial images with 52% ASR against ResNet50 — proving real-world attack viability.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/>
          <p:nvPr/>
        </p:nvSpPr>
        <p:spPr>
          <a:xfrm>
            <a:off x="640080" y="2450592"/>
            <a:ext cx="228600" cy="228600"/>
          </a:xfrm>
          <a:prstGeom prst="ellipse">
            <a:avLst/>
          </a:prstGeom>
          <a:solidFill>
            <a:srgbClr val="8B6F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960120" y="2286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6F8E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8B6F8E"/>
                </a:solidFill>
                <a:latin typeface="Calibri"/>
                <a:ea typeface="Calibri"/>
                <a:cs typeface="Calibri"/>
                <a:sym typeface="Calibri"/>
              </a:rPr>
              <a:t>Multi-Layer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/>
          <p:nvPr/>
        </p:nvSpPr>
        <p:spPr>
          <a:xfrm>
            <a:off x="960120" y="265176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IVM's tri-model ensemble (ResNet50 + YOLOv5s + Autoencoder) with Byzantine consensus reduces false positives — adversarial confidence drops from 0.978 → 0.480 under attack.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640080" y="3456432"/>
            <a:ext cx="228600" cy="228600"/>
          </a:xfrm>
          <a:prstGeom prst="ellipse">
            <a:avLst/>
          </a:prstGeom>
          <a:solidFill>
            <a:srgbClr val="7B8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/>
          <p:nvPr/>
        </p:nvSpPr>
        <p:spPr>
          <a:xfrm>
            <a:off x="960120" y="3291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8B5C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7B8B5C"/>
                </a:solidFill>
                <a:latin typeface="Calibri"/>
                <a:ea typeface="Calibri"/>
                <a:cs typeface="Calibri"/>
                <a:sym typeface="Calibri"/>
              </a:rPr>
              <a:t>Transparent AI Forensics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960120" y="365760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XAI module cross-verifies Grad-CAM, SHAP &amp; LIME for every prediction — giving analysts interpretable, audit-ready forensic evidence with top-5 feature attribution.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640080" y="4462272"/>
            <a:ext cx="228600" cy="228600"/>
          </a:xfrm>
          <a:prstGeom prst="ellipse">
            <a:avLst/>
          </a:prstGeom>
          <a:solidFill>
            <a:srgbClr val="C686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960120" y="42976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8642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C68642"/>
                </a:solidFill>
                <a:latin typeface="Calibri"/>
                <a:ea typeface="Calibri"/>
                <a:cs typeface="Calibri"/>
                <a:sym typeface="Calibri"/>
              </a:rPr>
              <a:t>Zero-Latency Autonomous Defense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/>
          <p:nvPr/>
        </p:nvSpPr>
        <p:spPr>
          <a:xfrm>
            <a:off x="960120" y="466344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ARE responds in &lt;100ms with 94.2% success rate — isolating agents, switching models, or escalating without human intervention; policies persist across restarts.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640080" y="5468112"/>
            <a:ext cx="228600" cy="228600"/>
          </a:xfrm>
          <a:prstGeom prst="ellipse">
            <a:avLst/>
          </a:prstGeom>
          <a:solidFill>
            <a:srgbClr val="6B8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960120" y="5303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6A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6B86A6"/>
                </a:solidFill>
                <a:latin typeface="Calibri"/>
                <a:ea typeface="Calibri"/>
                <a:cs typeface="Calibri"/>
                <a:sym typeface="Calibri"/>
              </a:rPr>
              <a:t>Enterprise-Grade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960120" y="566928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Microservices with mTLS, AES-256, SHA-3 logs, RBAC, Byzantine consensus, Docker/Kubernetes deployment — production-ready and compliance-aligned (GDPR/HIPAA/ISO 27001).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PhantomNet++ · Final Presentation · Farwah Hamid &amp; Munazza Ahmed · COMSATS University Islamabad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3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2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2"/>
          <p:cNvSpPr/>
          <p:nvPr/>
        </p:nvSpPr>
        <p:spPr>
          <a:xfrm>
            <a:off x="0" y="2377440"/>
            <a:ext cx="12161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2E1F"/>
              </a:buClr>
              <a:buSzPts val="8400"/>
              <a:buFont typeface="Calibri"/>
              <a:buNone/>
            </a:pPr>
            <a:r>
              <a:rPr lang="en-US" sz="8400" b="1">
                <a:solidFill>
                  <a:srgbClr val="3D2E1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8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2"/>
          <p:cNvSpPr/>
          <p:nvPr/>
        </p:nvSpPr>
        <p:spPr>
          <a:xfrm>
            <a:off x="5166360" y="3703320"/>
            <a:ext cx="1828800" cy="54864"/>
          </a:xfrm>
          <a:prstGeom prst="rect">
            <a:avLst/>
          </a:prstGeom>
          <a:solidFill>
            <a:srgbClr val="A062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2"/>
          <p:cNvSpPr/>
          <p:nvPr/>
        </p:nvSpPr>
        <p:spPr>
          <a:xfrm>
            <a:off x="0" y="3931920"/>
            <a:ext cx="12161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623E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A0623E"/>
                </a:solidFill>
                <a:latin typeface="Calibri"/>
                <a:ea typeface="Calibri"/>
                <a:cs typeface="Calibri"/>
                <a:sym typeface="Calibri"/>
              </a:rPr>
              <a:t>PhantomNet++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0" y="4663440"/>
            <a:ext cx="1216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796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8B7960"/>
                </a:solidFill>
                <a:latin typeface="Calibri"/>
                <a:ea typeface="Calibri"/>
                <a:cs typeface="Calibri"/>
                <a:sym typeface="Calibri"/>
              </a:rPr>
              <a:t>Bachelors in Cybersecurity — COMSATS University Islamabad · 2024–2025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2649</Words>
  <Application>Microsoft Office PowerPoint</Application>
  <PresentationFormat>Widescreen</PresentationFormat>
  <Paragraphs>443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(FA22-BCT-007) FARWAH HAMID</cp:lastModifiedBy>
  <cp:revision>5</cp:revision>
  <dcterms:modified xsi:type="dcterms:W3CDTF">2026-05-04T06:45:31Z</dcterms:modified>
</cp:coreProperties>
</file>